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9bc90c987c496b" /><Relationship Type="http://schemas.openxmlformats.org/officeDocument/2006/relationships/extended-properties" Target="/docProps/app.xml" Id="Rb1862419834d415a" /><Relationship Type="http://schemas.openxmlformats.org/officeDocument/2006/relationships/officeDocument" Target="/ppt/presentation.xml" Id="R47e355d81f7e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0645e6ba6443d"/>
  </p:sldMasterIdLst>
  <p:notesMasterIdLst>
    <p:notesMasterId xmlns:r="http://schemas.openxmlformats.org/officeDocument/2006/relationships" r:id="R1d34fdaa510c4e95"/>
  </p:notesMasterIdLst>
  <p:sldIdLst>
    <p:sldId xmlns:r="http://schemas.openxmlformats.org/officeDocument/2006/relationships" id="256" r:id="R00a1b20c7b5f45b0"/>
    <p:sldId xmlns:r="http://schemas.openxmlformats.org/officeDocument/2006/relationships" id="257" r:id="Ra68638f205324b53"/>
    <p:sldId xmlns:r="http://schemas.openxmlformats.org/officeDocument/2006/relationships" id="258" r:id="R80035e0058994adf"/>
    <p:sldId xmlns:r="http://schemas.openxmlformats.org/officeDocument/2006/relationships" id="259" r:id="Rb6b7f68ff91d4c77"/>
    <p:sldId xmlns:r="http://schemas.openxmlformats.org/officeDocument/2006/relationships" id="260" r:id="R1509731800384d5b"/>
    <p:sldId xmlns:r="http://schemas.openxmlformats.org/officeDocument/2006/relationships" id="261" r:id="R8e463b8282b44e74"/>
    <p:sldId xmlns:r="http://schemas.openxmlformats.org/officeDocument/2006/relationships" id="262" r:id="Re15892a62e37415a"/>
    <p:sldId xmlns:r="http://schemas.openxmlformats.org/officeDocument/2006/relationships" id="263" r:id="R77ffe444f11d40fc"/>
    <p:sldId xmlns:r="http://schemas.openxmlformats.org/officeDocument/2006/relationships" id="264" r:id="R7aa194ca749944f5"/>
    <p:sldId xmlns:r="http://schemas.openxmlformats.org/officeDocument/2006/relationships" id="265" r:id="R66b90c7e4cb347c7"/>
    <p:sldId xmlns:r="http://schemas.openxmlformats.org/officeDocument/2006/relationships" id="266" r:id="Rfb8b499ef6ed4128"/>
    <p:sldId xmlns:r="http://schemas.openxmlformats.org/officeDocument/2006/relationships" id="267" r:id="Rc6eca9332f5a497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0645e6ba6443d" /><Relationship Type="http://schemas.openxmlformats.org/officeDocument/2006/relationships/theme" Target="/ppt/theme/theme1.xml" Id="R37ce03a5f2a546ce" /><Relationship Type="http://schemas.openxmlformats.org/officeDocument/2006/relationships/notesMaster" Target="/ppt/notesMasters/notesMaster1.xml" Id="R1d34fdaa510c4e95" /><Relationship Type="http://schemas.openxmlformats.org/officeDocument/2006/relationships/presProps" Target="/ppt/presProps.xml" Id="Re73dc787e06e43f4" /><Relationship Type="http://schemas.openxmlformats.org/officeDocument/2006/relationships/viewProps" Target="/ppt/viewProps.xml" Id="R6b68e153c706424c" /><Relationship Type="http://schemas.openxmlformats.org/officeDocument/2006/relationships/tableStyles" Target="/ppt/tableStyles.xml" Id="Rb9e1b1b7b0ee49c1" /><Relationship Type="http://schemas.openxmlformats.org/officeDocument/2006/relationships/slide" Target="/ppt/slides/slide1.xml" Id="R00a1b20c7b5f45b0" /><Relationship Type="http://schemas.openxmlformats.org/officeDocument/2006/relationships/slide" Target="/ppt/slides/slide2.xml" Id="Ra68638f205324b53" /><Relationship Type="http://schemas.openxmlformats.org/officeDocument/2006/relationships/slide" Target="/ppt/slides/slide3.xml" Id="R80035e0058994adf" /><Relationship Type="http://schemas.openxmlformats.org/officeDocument/2006/relationships/slide" Target="/ppt/slides/slide4.xml" Id="Rb6b7f68ff91d4c77" /><Relationship Type="http://schemas.openxmlformats.org/officeDocument/2006/relationships/slide" Target="/ppt/slides/slide5.xml" Id="R1509731800384d5b" /><Relationship Type="http://schemas.openxmlformats.org/officeDocument/2006/relationships/slide" Target="/ppt/slides/slide6.xml" Id="R8e463b8282b44e74" /><Relationship Type="http://schemas.openxmlformats.org/officeDocument/2006/relationships/slide" Target="/ppt/slides/slide7.xml" Id="Re15892a62e37415a" /><Relationship Type="http://schemas.openxmlformats.org/officeDocument/2006/relationships/slide" Target="/ppt/slides/slide8.xml" Id="R77ffe444f11d40fc" /><Relationship Type="http://schemas.openxmlformats.org/officeDocument/2006/relationships/slide" Target="/ppt/slides/slide9.xml" Id="R7aa194ca749944f5" /><Relationship Type="http://schemas.openxmlformats.org/officeDocument/2006/relationships/slide" Target="/ppt/slides/slide10.xml" Id="R66b90c7e4cb347c7" /><Relationship Type="http://schemas.openxmlformats.org/officeDocument/2006/relationships/slide" Target="/ppt/slides/slide11.xml" Id="Rfb8b499ef6ed4128" /><Relationship Type="http://schemas.openxmlformats.org/officeDocument/2006/relationships/slide" Target="/ppt/slides/slide12.xml" Id="Rc6eca9332f5a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1a93c1746e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9b1e7ff0d4d49" /><Relationship Type="http://schemas.openxmlformats.org/officeDocument/2006/relationships/notesMaster" Target="/ppt/notesMasters/notesMaster1.xml" Id="R2efe26024c1f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6bafd2b5144ec0" /><Relationship Type="http://schemas.openxmlformats.org/officeDocument/2006/relationships/notesMaster" Target="/ppt/notesMasters/notesMaster1.xml" Id="R439c5ea7c8404b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56c93ee9c4d18" /><Relationship Type="http://schemas.openxmlformats.org/officeDocument/2006/relationships/notesMaster" Target="/ppt/notesMasters/notesMaster1.xml" Id="Ra808da78ecff40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cc87998644b83" /><Relationship Type="http://schemas.openxmlformats.org/officeDocument/2006/relationships/notesMaster" Target="/ppt/notesMasters/notesMaster1.xml" Id="R8e534140cc0e4e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2592c7eaf42f5" /><Relationship Type="http://schemas.openxmlformats.org/officeDocument/2006/relationships/notesMaster" Target="/ppt/notesMasters/notesMaster1.xml" Id="R2c098005f4cf42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730b89e7a44e4b" /><Relationship Type="http://schemas.openxmlformats.org/officeDocument/2006/relationships/notesMaster" Target="/ppt/notesMasters/notesMaster1.xml" Id="R9de08f4377f647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0790b15be4428" /><Relationship Type="http://schemas.openxmlformats.org/officeDocument/2006/relationships/notesMaster" Target="/ppt/notesMasters/notesMaster1.xml" Id="Rbf5d9496ff7844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2717bf3d04180" /><Relationship Type="http://schemas.openxmlformats.org/officeDocument/2006/relationships/notesMaster" Target="/ppt/notesMasters/notesMaster1.xml" Id="Re8170f3dc6c441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520c6b6bd49cd" /><Relationship Type="http://schemas.openxmlformats.org/officeDocument/2006/relationships/notesMaster" Target="/ppt/notesMasters/notesMaster1.xml" Id="R94eb37ef3acd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7c6d98a59c4357" /><Relationship Type="http://schemas.openxmlformats.org/officeDocument/2006/relationships/notesMaster" Target="/ppt/notesMasters/notesMaster1.xml" Id="R2ed6192299eb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0b4d5f754945c2" /><Relationship Type="http://schemas.openxmlformats.org/officeDocument/2006/relationships/notesMaster" Target="/ppt/notesMasters/notesMaster1.xml" Id="R077121d87783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cb07447df040c2" /><Relationship Type="http://schemas.openxmlformats.org/officeDocument/2006/relationships/notesMaster" Target="/ppt/notesMasters/notesMaster1.xml" Id="R049939284267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7441d1d1444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ba927d67d441f5" /><Relationship Type="http://schemas.openxmlformats.org/officeDocument/2006/relationships/slideLayout" Target="/ppt/slideLayouts/slideLayout2.xml" Id="R0f1f608e5be047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f608e5be0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cb199019414877" /><Relationship Type="http://schemas.openxmlformats.org/officeDocument/2006/relationships/image" Target="/ppt/media/image.png" Id="Rddc9e0d848064832" /><Relationship Type="http://schemas.openxmlformats.org/officeDocument/2006/relationships/image" Target="/ppt/media/image2.png" Id="R6fb53dd6a49b4fff" /><Relationship Type="http://schemas.openxmlformats.org/officeDocument/2006/relationships/notesSlide" Target="/ppt/notesSlides/notesSlide1.xml" Id="Re6b07b0f995f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19053bade4af9" /><Relationship Type="http://schemas.openxmlformats.org/officeDocument/2006/relationships/image" Target="/ppt/media/image3.png" Id="R99af423a6ef0431f" /><Relationship Type="http://schemas.openxmlformats.org/officeDocument/2006/relationships/notesSlide" Target="/ppt/notesSlides/notesSlide2.xml" Id="R847b6113cb70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b195efc31a4803" /><Relationship Type="http://schemas.openxmlformats.org/officeDocument/2006/relationships/notesSlide" Target="/ppt/notesSlides/notesSlide3.xml" Id="Ra63084b15a72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0273fb0b14541" /><Relationship Type="http://schemas.openxmlformats.org/officeDocument/2006/relationships/image" Target="/ppt/media/image4.png" Id="R44d209a8c8c347f7" /><Relationship Type="http://schemas.openxmlformats.org/officeDocument/2006/relationships/notesSlide" Target="/ppt/notesSlides/notesSlide4.xml" Id="Rcfb08d0b855a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d213280af4a3c" /><Relationship Type="http://schemas.openxmlformats.org/officeDocument/2006/relationships/notesSlide" Target="/ppt/notesSlides/notesSlide5.xml" Id="R7f510a149c7840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07d21010de4daf" /><Relationship Type="http://schemas.openxmlformats.org/officeDocument/2006/relationships/notesSlide" Target="/ppt/notesSlides/notesSlide6.xml" Id="Rb5ccab6a61d943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8b57fb7b34ea0" /><Relationship Type="http://schemas.openxmlformats.org/officeDocument/2006/relationships/notesSlide" Target="/ppt/notesSlides/notesSlide7.xml" Id="Rb376011387ef4e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8f2afdda642d3" /><Relationship Type="http://schemas.openxmlformats.org/officeDocument/2006/relationships/notesSlide" Target="/ppt/notesSlides/notesSlide8.xml" Id="Rb7dd9c98b95b40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530222958e49c3" /><Relationship Type="http://schemas.openxmlformats.org/officeDocument/2006/relationships/notesSlide" Target="/ppt/notesSlides/notesSlide9.xml" Id="R6c54583f00484e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af727e18747b7" /><Relationship Type="http://schemas.openxmlformats.org/officeDocument/2006/relationships/image" Target="/ppt/media/image5.png" Id="R1e31707f3d8441f8" /><Relationship Type="http://schemas.openxmlformats.org/officeDocument/2006/relationships/image" Target="/ppt/media/image6.png" Id="Rfff95502399c4812" /><Relationship Type="http://schemas.openxmlformats.org/officeDocument/2006/relationships/image" Target="/ppt/media/image7.png" Id="R710c562265394409" /><Relationship Type="http://schemas.openxmlformats.org/officeDocument/2006/relationships/notesSlide" Target="/ppt/notesSlides/notesSlide10.xml" Id="R43d18acc75a743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5e1fa8760b4cd3" /><Relationship Type="http://schemas.openxmlformats.org/officeDocument/2006/relationships/notesSlide" Target="/ppt/notesSlides/notesSlide11.xml" Id="Rd66f0ae01cbc42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003afde70467a" /><Relationship Type="http://schemas.openxmlformats.org/officeDocument/2006/relationships/notesSlide" Target="/ppt/notesSlides/notesSlide12.xml" Id="Rf598932d8ffd48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9e0d848064832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63A52-2D72-4BDE-BCFF-A91523A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8000"/>
            </a:srgbClr>
          </a:solidFill>
          <a:ln xmlns:a="http://schemas.openxmlformats.org/drawingml/2006/main" w="0">
            <a:solidFill>
              <a:srgbClr val="000000">
                <a:alpha val="5800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53dd6a49b4fff"/>
          <a:stretch xmlns:a="http://schemas.openxmlformats.org/drawingml/2006/main"/>
        </p:blipFill>
        <p:spPr>
          <a:xfrm xmlns:a="http://schemas.openxmlformats.org/drawingml/2006/main">
            <a:off x="1303349" y="685800"/>
            <a:ext cx="1069951" cy="85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3E9F5-5599-45BF-8964-6BC631F2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95250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SWP391 PROJECT INTRODUCTION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00897-7BFD-4896-B691-608B9568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864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3F42"/>
                </a:solidFill>
              </a:defRPr>
            </a:pPr>
            <a:r>
              <a:rPr sz="1500" b="1" i="0">
                <a:solidFill>
                  <a:srgbClr val="FF3F42"/>
                </a:solidFill>
              </a:rPr>
              <a:t>ROCKWEAR CLOTHING SHOP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73AD6-0256-489B-B4E7-89FD0A7D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86487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FFFFFF"/>
                </a:solidFill>
              </a:defRPr>
            </a:pPr>
            <a:r>
              <a:rPr sz="8400" b="1" i="0">
                <a:solidFill>
                  <a:srgbClr val="FFFFFF"/>
                </a:solidFill>
              </a:rPr>
              <a:t>UNLEASH</a:t>
            </a:r>
          </a:p>
          <a:p xmlns:a="http://schemas.openxmlformats.org/drawingml/2006/main">
            <a:pPr>
              <a:defRPr sz="8400" b="1" i="0">
                <a:solidFill>
                  <a:srgbClr val="FFFFFF"/>
                </a:solidFill>
              </a:defRPr>
            </a:pPr>
            <a:r>
              <a:rPr sz="8400" b="1" i="0">
                <a:solidFill>
                  <a:srgbClr val="FFFFFF"/>
                </a:solidFill>
              </a:rPr>
              <a:t>YOUR REBEL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753AF-CCC5-41E0-958F-7266924C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19800"/>
            <a:ext cx="864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9C9C9"/>
                </a:solidFill>
              </a:defRPr>
            </a:pPr>
            <a:r>
              <a:rPr sz="2250" b="0" i="0">
                <a:solidFill>
                  <a:srgbClr val="C9C9C9"/>
                </a:solidFill>
              </a:rPr>
              <a:t>A streetwear e-commerce platform built for curated shopping, order management, stock control, and campaign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5E69B-7E14-4761-A973-0BD15E3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8180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D719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A49C3-DB89-4C66-8FE6-2FCD7D49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95325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Project Pitch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B64F4-067B-4E20-9005-8EF9C284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915150"/>
            <a:ext cx="1866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Can Tho, April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CC4DB-DE87-43FD-9857-B9B67B4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239250"/>
            <a:ext cx="1623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Team: Nguyễn Gia Bảo (Leader) · Nguyễn Phúc An · Phạm Trí Trọng Ân · Nguyễn Phúc An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Lecturer: Quách Luyl Đa</a:t>
            </a:r>
          </a:p>
        </p:txBody>
      </p:sp>
    </p:spTree>
    <p:extLst>
      <p:ext uri="{BB962C8B-B14F-4D97-AF65-F5344CB8AC3E}">
        <p14:creationId xmlns:p14="http://schemas.microsoft.com/office/powerpoint/2010/main" val="5701237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ED131-93D6-4A5A-907F-411793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C5AE6-477E-4B28-B76C-1C2C6F3D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D719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19420-9A43-4118-B31E-77E15220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PROJECT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B02BC-A693-45D8-BB51-09068B4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A fashion shop that balances style and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CC728-EA05-4E38-ACA5-41BA4370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ROCKWEAR is not only a customer storefront. The system also gives staff and admins the tools to keep products, orders, campaigns, stock, and customer communication under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41567-1DB1-4500-9513-174BD89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B8B9F-B6DE-4E59-90C8-7CA9009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699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Customer-first shopping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BA696-00BB-4856-B9FC-28FD2C7B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10200"/>
            <a:ext cx="699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Browse products, search, wishlist, cart, checkout, order history, and reviews.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C1CB1-A881-4F17-A543-BCC8289A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A9576-6F32-4F9E-AE48-C675B38D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699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Back-office 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4517C-E5BD-4D7B-8C9E-65B36AC1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341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Manage catalog data, suppliers, warehouse stock, orders, vouchers, promotions, and notifications.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4BA0-3597-4079-B2AC-37EDC0B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913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63250-F456-4069-9096-11F818BD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43700"/>
            <a:ext cx="699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Full-stack 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C64D9-29C6-4DC7-856E-24725A22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0485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React UI connects to REST APIs, service-layer business logic, repositories, and a relational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B3813-1428-4A21-A576-14742A6C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368" y="3467100"/>
            <a:ext cx="8261033" cy="561975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f423a6ef0431f"/>
          <a:srcRect xmlns:a="http://schemas.openxmlformats.org/drawingml/2006/main" l="4062" t="0" r="40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6368" y="3467100"/>
            <a:ext cx="8261033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02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A1C42-1429-4897-A5B7-080DA1E2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C63D8-83C4-4C9E-A695-C923712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USER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0C688-5EC3-4CD5-A2AE-47E5A10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Four actor groups, one connected shopping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16BA2-8C70-4EDE-B17C-68FDE83D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344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requirement document separates access and responsibilities so each role sees the workflow they actually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DCDB0-D7BA-44D0-BC6F-DBD941D7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38766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90AC-486D-4744-AE15-002BD85E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335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3F42"/>
                </a:solidFill>
              </a:defRPr>
            </a:pPr>
            <a:r>
              <a:rPr sz="3150" b="1" i="0">
                <a:solidFill>
                  <a:srgbClr val="FF3F4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58375-0152-49F0-97B2-A37467E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86400"/>
            <a:ext cx="335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6A1E3-02AC-4766-87BE-B417028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43600"/>
            <a:ext cx="3352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Explore shop, search products, register, and access public pages.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97EC6-D8A5-41FA-8820-E20B3C2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67250"/>
            <a:ext cx="38766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E921-AE95-40B4-81AD-DCAB083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33950"/>
            <a:ext cx="335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3F42"/>
                </a:solidFill>
              </a:defRPr>
            </a:pPr>
            <a:r>
              <a:rPr sz="3150" b="1" i="0">
                <a:solidFill>
                  <a:srgbClr val="FF3F4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BC4E-A585-44BF-812E-4C8CD3D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86400"/>
            <a:ext cx="335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CE982-8CC2-4140-AAC4-2C9CCC2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3352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Build cart and wishlist, place orders, use vouchers, review purchased products.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90759-247D-4C5F-A43F-F09ED3C4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67250"/>
            <a:ext cx="38766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B15D5-7464-40D2-B243-6E6D06B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33950"/>
            <a:ext cx="335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3F42"/>
                </a:solidFill>
              </a:defRPr>
            </a:pPr>
            <a:r>
              <a:rPr sz="3150" b="1" i="0">
                <a:solidFill>
                  <a:srgbClr val="FF3F4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7B381-4F33-48A7-B5AC-3A00CD48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86400"/>
            <a:ext cx="335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Staff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F0DA3-2ED5-42F9-B2DA-EBA9110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943600"/>
            <a:ext cx="3352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Support operations: products, orders, stock, suppliers, reviews, and notifications.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CC1A3-7DE7-4D4A-8501-2A1CCB7E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4667250"/>
            <a:ext cx="38766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42737-734C-428D-ABEA-09843CEC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933950"/>
            <a:ext cx="335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3F42"/>
                </a:solidFill>
              </a:defRPr>
            </a:pPr>
            <a:r>
              <a:rPr sz="3150" b="1" i="0">
                <a:solidFill>
                  <a:srgbClr val="FF3F42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D7C2B-1A45-4BBE-9E64-77EBA089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486400"/>
            <a:ext cx="335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F653A-FF94-4AA5-A0D4-FD881253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943600"/>
            <a:ext cx="3352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Control accounts, permissions, product master data, campaigns, and statistics.</a:t>
            </a:r>
          </a:p>
        </p:txBody>
      </p:sp>
    </p:spTree>
    <p:extLst>
      <p:ext uri="{BB962C8B-B14F-4D97-AF65-F5344CB8AC3E}">
        <p14:creationId xmlns:p14="http://schemas.microsoft.com/office/powerpoint/2010/main" val="3491492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159C3-4708-4306-8961-F7CE4F3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9552F-348F-45EC-BD7C-76CD595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CUSTOMER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FDBD0-B5E5-4BC3-9D50-D98AE018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From discovery to repeat purchase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8082E-CC4E-46BF-B0A3-3F851E6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9734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core customer flow stays simple, while the system quietly handles availability, payment, discounts, notifications, and review eligibility.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5640-1F8F-41D9-88E1-29C48E9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EBE7A-FB99-4451-A804-27B00AB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71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Browse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AE2A-987F-4295-A179-9AE2EB46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9C9C9"/>
                </a:solidFill>
              </a:defRPr>
            </a:pPr>
            <a:r>
              <a:rPr sz="1350" b="0" i="0">
                <a:solidFill>
                  <a:srgbClr val="C9C9C9"/>
                </a:solidFill>
              </a:rPr>
              <a:t>Shop, search, 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F99BD-F20D-4A2A-8C39-8B3E89E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FF3F42"/>
                </a:solidFill>
              </a:defRPr>
            </a:pPr>
            <a:r>
              <a:rPr sz="330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716BF-3885-4CEF-840B-E8BB45BE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D8D31-2FD2-4C77-BB39-FDDA23D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71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E9136-E80E-4760-9219-0901D6B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529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9C9C9"/>
                </a:solidFill>
              </a:defRPr>
            </a:pPr>
            <a:r>
              <a:rPr sz="1350" b="0" i="0">
                <a:solidFill>
                  <a:srgbClr val="C9C9C9"/>
                </a:solidFill>
              </a:rPr>
              <a:t>Size, color,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538D6-532F-4C91-AAC4-B2CDBF8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3860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FF3F42"/>
                </a:solidFill>
              </a:defRPr>
            </a:pPr>
            <a:r>
              <a:rPr sz="330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06501-806E-4A9B-B787-50DF7A5D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35157-2064-40AD-B16E-5EE81896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ADE7D-2C4B-4C53-A674-1685210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9C9C9"/>
                </a:solidFill>
              </a:defRPr>
            </a:pPr>
            <a:r>
              <a:rPr sz="1350" b="0" i="0">
                <a:solidFill>
                  <a:srgbClr val="C9C9C9"/>
                </a:solidFill>
              </a:rPr>
              <a:t>COD, VNPay, voucher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CB652-2D28-4028-B18D-CADB0DD7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3860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FF3F42"/>
                </a:solidFill>
              </a:defRPr>
            </a:pPr>
            <a:r>
              <a:rPr sz="330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2604D-D265-4451-8551-8844445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24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CBD7E-731C-4FC5-9343-899E2B47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71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96D35-5165-4775-B2D2-4291978D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529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9C9C9"/>
                </a:solidFill>
              </a:defRPr>
            </a:pPr>
            <a:r>
              <a:rPr sz="1350" b="0" i="0">
                <a:solidFill>
                  <a:srgbClr val="C9C9C9"/>
                </a:solidFill>
              </a:rPr>
              <a:t>History, status, detail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F25F4-E89E-4EF6-BD2D-71B2B42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03860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FF3F42"/>
                </a:solidFill>
              </a:defRPr>
            </a:pPr>
            <a:r>
              <a:rPr sz="330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F89F1-9469-4C88-A184-9A87BCB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A9D9-1C42-4E40-9E03-F5E3DC5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71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4D1F3-4E76-43BA-A8B0-A92CB372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1529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9C9C9"/>
                </a:solidFill>
              </a:defRPr>
            </a:pPr>
            <a:r>
              <a:rPr sz="1350" b="0" i="0">
                <a:solidFill>
                  <a:srgbClr val="C9C9C9"/>
                </a:solidFill>
              </a:rPr>
              <a:t>Verified purchase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83DAB-8489-40A8-B582-3FB8F91C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104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209a8c8c347f7"/>
          <a:srcRect xmlns:a="http://schemas.openxmlformats.org/drawingml/2006/main" l="0" t="25172" r="0" b="25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5314950"/>
            <a:ext cx="11049000" cy="34290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64BB6-0D26-4338-8388-2115289B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9055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WHAT THIS UNLOCKS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ED9B7-536A-4CF7-B174-BFFB77B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67450"/>
            <a:ext cx="4210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A clean demo path for presentation day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6F64B-1E49-4DAB-8A49-53072E2A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58050"/>
            <a:ext cx="4495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9C9C9"/>
                </a:solidFill>
              </a:defRPr>
            </a:pPr>
            <a:r>
              <a:rPr sz="1800" b="0" i="0">
                <a:solidFill>
                  <a:srgbClr val="C9C9C9"/>
                </a:solidFill>
              </a:rPr>
              <a:t>Start with the storefront, add a product to cart, apply a voucher, place an order, then show the dashboard side handling the order lifecycle.</a:t>
            </a:r>
          </a:p>
        </p:txBody>
      </p:sp>
    </p:spTree>
    <p:extLst>
      <p:ext uri="{BB962C8B-B14F-4D97-AF65-F5344CB8AC3E}">
        <p14:creationId xmlns:p14="http://schemas.microsoft.com/office/powerpoint/2010/main" val="16705246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39AD9-2C25-4EF1-9142-4BD3CFB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69ABC-8FBE-4C99-BF3D-6685CEF6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ADMIN &amp; STAFF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17ACE-BD06-4A93-9B03-40DEC97E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Operations behind the storefront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2BB80-1D7D-431E-AD31-155210CE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9867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dashboard turns the store into a managed business process instead of a static product catalog.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9EC00-CF73-46E3-AC64-A6F0AB9D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52705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55BCE-4628-4A98-BBFB-5832F24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8032D-0F68-4395-9D29-3A7CCF3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9C9C9"/>
                </a:solidFill>
              </a:defRPr>
            </a:pPr>
            <a:r>
              <a:rPr sz="1575" b="0" i="0">
                <a:solidFill>
                  <a:srgbClr val="C9C9C9"/>
                </a:solidFill>
              </a:rPr>
              <a:t>Products, categories, brands, variations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A6F21-680B-44A9-B2E6-5E8A261E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762250"/>
            <a:ext cx="52705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57588-EE6F-4E65-8830-260F22CD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B0546-A9ED-4EA7-803C-66AF2DD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9C9C9"/>
                </a:solidFill>
              </a:defRPr>
            </a:pPr>
            <a:r>
              <a:rPr sz="1575" b="0" i="0">
                <a:solidFill>
                  <a:srgbClr val="C9C9C9"/>
                </a:solidFill>
              </a:rPr>
              <a:t>Approval, status updates, order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681E1-9AFA-425B-8191-43A8B5B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00" y="2762250"/>
            <a:ext cx="52705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A8142-D0EC-4747-9471-07693B91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0099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40DB1-32A6-4EAE-8342-220D6122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409950"/>
            <a:ext cx="4705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9C9C9"/>
                </a:solidFill>
              </a:defRPr>
            </a:pPr>
            <a:r>
              <a:rPr sz="1575" b="0" i="0">
                <a:solidFill>
                  <a:srgbClr val="C9C9C9"/>
                </a:solidFill>
              </a:rPr>
              <a:t>Warehouse view, import products, transaction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C53C6-F470-4E8A-AFB8-A0FDD742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57925"/>
            <a:ext cx="52705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5A1BA-9FFB-4B54-A3FB-40A3E02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151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Campaigns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3E1A6-245A-4ADF-ADB9-3536D8DD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9151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9C9C9"/>
                </a:solidFill>
              </a:defRPr>
            </a:pPr>
            <a:r>
              <a:rPr sz="1575" b="0" i="0">
                <a:solidFill>
                  <a:srgbClr val="C9C9C9"/>
                </a:solidFill>
              </a:rPr>
              <a:t>Vouchers, promotions, product assignment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60FFA-7B29-449F-AB8E-390D9DE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6257925"/>
            <a:ext cx="52705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44FF0-BE6A-4CB3-B463-2C1981FB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5151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AD255-B37D-4C6B-BC35-1F687E5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9151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9C9C9"/>
                </a:solidFill>
              </a:defRPr>
            </a:pPr>
            <a:r>
              <a:rPr sz="1575" b="0" i="0">
                <a:solidFill>
                  <a:srgbClr val="C9C9C9"/>
                </a:solidFill>
              </a:rPr>
              <a:t>Reviews, replies, customer notifications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479BF-2E04-4B70-90CE-15BA1335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00" y="6257925"/>
            <a:ext cx="52705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F40E0-26BB-4F0E-9CEB-F9EC5640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5151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1AC7D-CC85-4ACC-88FB-20A096B2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9151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9C9C9"/>
                </a:solidFill>
              </a:defRPr>
            </a:pPr>
            <a:r>
              <a:rPr sz="1575" b="0" i="0">
                <a:solidFill>
                  <a:srgbClr val="C9C9C9"/>
                </a:solidFill>
              </a:rPr>
              <a:t>Accounts, role permissions, statistics</a:t>
            </a:r>
          </a:p>
        </p:txBody>
      </p:sp>
    </p:spTree>
    <p:extLst>
      <p:ext uri="{BB962C8B-B14F-4D97-AF65-F5344CB8AC3E}">
        <p14:creationId xmlns:p14="http://schemas.microsoft.com/office/powerpoint/2010/main" val="16738852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161568-88AB-4997-A7A7-E409EA41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7F329-FC86-4434-A10C-B9A7A448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1CBD0-47D7-4A55-BF26-AB43935E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A layered full-stack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10737-FDD1-4001-A42E-EB084BB3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15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SDS organizes implementation around REST controllers, services, models/DTOs, repositories, security utilities, and configuration.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BC263-D416-433F-994E-5193624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6736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754B3-7FFC-4D28-B463-64499043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4019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7933F-9F79-4D78-8A3F-851DB2E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00600"/>
            <a:ext cx="4019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React WebPages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F16DF-8608-4FDE-B340-6C2DFBEA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34000"/>
            <a:ext cx="4019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Shopping UI, dashboard screens, routing, API client, form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3169F-785A-45B6-A60F-3C8E298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1975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0" i="0">
                <a:solidFill>
                  <a:srgbClr val="FF3F42"/>
                </a:solidFill>
              </a:defRPr>
            </a:pPr>
            <a:r>
              <a:rPr sz="390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D33A2-D497-42AD-B9FD-5826958B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4152900"/>
            <a:ext cx="46736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1D56C-B182-4AC8-A942-5328F0AF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4019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F80AD-C8DC-4F16-960C-BC677FA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019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REST →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60530-A31D-42B9-BC24-BA4B472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34000"/>
            <a:ext cx="4019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Controllers handle requests; services apply business rules and orchestrate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707F4-8319-49F8-88C8-13F6298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61975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0" i="0">
                <a:solidFill>
                  <a:srgbClr val="FF3F42"/>
                </a:solidFill>
              </a:defRPr>
            </a:pPr>
            <a:r>
              <a:rPr sz="390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BB9B8-9960-48D5-8FA2-F44A837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800" y="4152900"/>
            <a:ext cx="46736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CC848-506C-430A-9C7F-5E15B53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476750"/>
            <a:ext cx="4019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6DBDB-1A38-4C10-8423-95ADC999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00600"/>
            <a:ext cx="4019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Repository →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4FDD9-458D-453E-8E10-B2AC645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334000"/>
            <a:ext cx="4019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Repositories persist users, products, orders, discounts, stock, reviews, notifications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4EA0-9A2D-48FA-9972-DCC85549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315450"/>
            <a:ext cx="2000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SECURITY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74173-7A16-45D4-B00E-191D4CD4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277350"/>
            <a:ext cx="1409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9C9C9"/>
                </a:solidFill>
              </a:defRPr>
            </a:pPr>
            <a:r>
              <a:rPr sz="1725" b="0" i="0">
                <a:solidFill>
                  <a:srgbClr val="C9C9C9"/>
                </a:solidFill>
              </a:rPr>
              <a:t>JWT, Google login, password hashing, role-based authorization, account status checks, and email services.</a:t>
            </a:r>
          </a:p>
        </p:txBody>
      </p:sp>
    </p:spTree>
    <p:extLst>
      <p:ext uri="{BB962C8B-B14F-4D97-AF65-F5344CB8AC3E}">
        <p14:creationId xmlns:p14="http://schemas.microsoft.com/office/powerpoint/2010/main" val="8655934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2C231-8498-4962-B334-9EDC64F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7D5FA-2D0B-470C-BB04-FEACBE7F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DATA BACKBONE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499F7-0FA2-4797-93A3-F766CAEF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The database mirrors real store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5FAA4-0860-4EA0-97D8-D2C4223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306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SDS table description lists 36 tables grouped around catalog, inventory, checkout, user management, campaigns, and engagement.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1A265-BEAF-4D35-A9C7-EA2DAB07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F92E-3D11-4354-933B-494EF8D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468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User &amp;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0CEEA-6E5E-4995-832C-79C791E1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468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user, role, account profile, authentication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BF57D-15A5-439B-B5A3-C6B8548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7A486-FF07-4D0B-B025-F543C4D6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68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3C938-6CFB-476E-A914-FA4C4A8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468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product, category, brand, size, color, variation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611D7-9B9E-47DC-8973-B170C4D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762250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E2275-893E-46AA-AA7B-7186EFA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09900"/>
            <a:ext cx="468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FE509-737E-44D2-A3FC-567959E8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409950"/>
            <a:ext cx="468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stock, stock variation, provider, 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3D08D-C083-491E-A380-044036D4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91225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CA71E-BE1D-4575-96A1-F824980A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48400"/>
            <a:ext cx="468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0AEF3-D0CB-447C-A1D3-7A89F09E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48450"/>
            <a:ext cx="468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orders, order status, payment, shipping, order items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A37B8-78A4-44B1-ACA6-5516257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91225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5056A-27B7-494D-B623-93DE7EA7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248400"/>
            <a:ext cx="468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Campaigns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37B8E-0EA4-4E8E-8E49-34FF81EA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648450"/>
            <a:ext cx="468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discounts, vouchers, sale, promotion products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73382-36A2-43EE-B0C6-BAC863F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991225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C442A-57BE-4A57-9F3D-145C758B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48400"/>
            <a:ext cx="468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Engagement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84A2B-278D-409D-9C1C-597AD30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648450"/>
            <a:ext cx="468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reviews, comments, notifications, wishlist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900A7-9CA5-4C33-B8D7-AC1A6421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277350"/>
            <a:ext cx="1630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Design goal: every customer-facing action has a corresponding operational record for tracking, validation,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2482463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9CA66-5E82-4601-8D37-B688D8B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03653-D87F-4A5D-93BA-724CCE4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SCOPE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AA69C-E28F-4FB4-B6DF-644415A7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Requirements broad enough for a real store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F83B8-2BF4-4D3C-BB94-87753A1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916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presentation stays short, but the source documents define a much larger implementation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643F3-23D0-449C-831C-1C01371E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3F42"/>
                </a:solidFill>
              </a:defRPr>
            </a:pPr>
            <a:r>
              <a:rPr sz="6150" b="1" i="0">
                <a:solidFill>
                  <a:srgbClr val="FF3F42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F93FC-827A-411B-ACC6-CFCCBE0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actor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CDE34-E5D0-4609-B68B-563F7871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292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FFFF"/>
                </a:solidFill>
              </a:defRPr>
            </a:pPr>
            <a:r>
              <a:rPr sz="6150" b="1" i="0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9ED06-3210-4709-AF0C-14FDABE5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86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RDS use-case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F025C-9DCD-4099-B63E-AF5BACDC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292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3F42"/>
                </a:solidFill>
              </a:defRPr>
            </a:pPr>
            <a:r>
              <a:rPr sz="6150" b="1" i="0">
                <a:solidFill>
                  <a:srgbClr val="FF3F42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135A9-7717-4416-A04F-FEA6C29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86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database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38781-B75F-4E76-A787-EB5FD484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0292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FFFF"/>
                </a:solidFill>
              </a:defRPr>
            </a:pPr>
            <a:r>
              <a:rPr sz="6150" b="1" i="0">
                <a:solidFill>
                  <a:srgbClr val="FFFFFF"/>
                </a:solidFill>
              </a:rPr>
              <a:t>79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45FD7-C5D6-461C-A045-9F956936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886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business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25B51-7BF6-4318-8750-D316D3F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0292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3F42"/>
                </a:solidFill>
              </a:defRPr>
            </a:pPr>
            <a:r>
              <a:rPr sz="6150" b="1" i="0">
                <a:solidFill>
                  <a:srgbClr val="FF3F42"/>
                </a:solidFill>
              </a:rPr>
              <a:t>86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0CDE7-914B-4F5C-90CC-D28DAA23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C9C9"/>
                </a:solidFill>
              </a:defRPr>
            </a:pPr>
            <a:r>
              <a:rPr sz="1650" b="0" i="0">
                <a:solidFill>
                  <a:srgbClr val="C9C9C9"/>
                </a:solidFill>
              </a:rPr>
              <a:t>SDS code designs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3382E-F5E4-41D7-9F47-CF55D77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67750"/>
            <a:ext cx="163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5C485-4B61-4893-8468-673BA63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010650"/>
            <a:ext cx="1630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9C9C9"/>
                </a:solidFill>
              </a:defRPr>
            </a:pPr>
            <a:r>
              <a:rPr sz="1950" b="0" i="0">
                <a:solidFill>
                  <a:srgbClr val="C9C9C9"/>
                </a:solidFill>
              </a:rPr>
              <a:t>This gives the project enough depth to demonstrate both user experience and software engineering: flows, rules, persistence, security,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4254682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17B39-9152-463F-BA67-4A0F82E6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8F2A2-8A81-4E10-AF9B-42B5937B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QUALITY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43F03-FCF6-49D8-870F-44E011AB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Rules that protect the shopping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4B01-2C52-43F7-BCD0-32461E5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931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business rules focus on security, valid inventory, proper authorization, and trustworthy customer interactions.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BA6E7-4D20-4202-87CE-6D2E0999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B9427-6F34-48F5-9D54-A6D356D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7486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66C04-4892-4C8D-8A6B-4C95CC03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Guests, customers, staff, and admins only see the actions they are allowed to perform.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61C0E-F47C-4118-97AD-455754B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147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56A6-AB0F-40F6-9BC4-C2F233A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67100"/>
            <a:ext cx="7486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Account and password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DC92F-8CA5-4F8C-9E8E-A203D13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71900"/>
            <a:ext cx="7486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Unique usernames/emails, password strength, hashing, session timeout, and reset-link expiration.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1CAFE-8AD4-4128-96A0-314BE63B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388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989E3-9A7E-4E06-B850-1BE7B78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91200"/>
            <a:ext cx="7486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Stock-aware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DBD53-9AEB-4077-920D-41CF7D6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96000"/>
            <a:ext cx="7486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Products can only be ordered when available; quantity changes and cancellations update stock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50EC0-C0AD-4A26-8C0F-658E5C05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388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8F194-F198-43FB-8FC4-7F4B9EA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791200"/>
            <a:ext cx="7486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Promotion integrity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77F19-6B91-45C3-8974-47AD09A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096000"/>
            <a:ext cx="7486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Unique voucher codes, valid date ranges, usage limits, and admin/staff-managed campaigns.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A5ECD-145F-43AF-9CE2-F767643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629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AF218-8131-439E-8F19-744F39C0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115300"/>
            <a:ext cx="7486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Verified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D73AE-3126-4BCA-81F8-345A367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420100"/>
            <a:ext cx="7486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Customers can review only products from completed purchases, protecting review quality.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1BF12-9068-410B-ABF8-931E5AF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3629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43554-1DE7-469B-9450-F2C1977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210550"/>
            <a:ext cx="7486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Operational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1B94C-2C55-4F0C-906C-99337415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515350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Dashboards expose revenue, order status, best-selling products, and workflow history.</a:t>
            </a:r>
          </a:p>
        </p:txBody>
      </p:sp>
    </p:spTree>
    <p:extLst>
      <p:ext uri="{BB962C8B-B14F-4D97-AF65-F5344CB8AC3E}">
        <p14:creationId xmlns:p14="http://schemas.microsoft.com/office/powerpoint/2010/main" val="405683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14C6E-A9D9-4E83-B909-EEA53FD0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A8F04-6E9E-414B-8B8C-08F21C4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UI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21C86-877F-475D-9D32-81CC84C9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Streetwear energy, product-system clarity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D5F2C-066A-4C72-9107-1CBBC4A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937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current interface uses a dark canvas, red highlights, bold display type, and high-contrast product imagery.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91721-788C-4678-97AD-2DDB45D6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5283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1707f3d8441f8"/>
          <a:stretch xmlns:a="http://schemas.openxmlformats.org/drawingml/2006/main"/>
        </p:blipFill>
        <p:spPr>
          <a:xfrm xmlns:a="http://schemas.openxmlformats.org/drawingml/2006/main">
            <a:off x="990600" y="4035425"/>
            <a:ext cx="5283200" cy="330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E24AF-47F5-4E9D-A047-E604359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3638550"/>
            <a:ext cx="5283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95502399c4812"/>
          <a:stretch xmlns:a="http://schemas.openxmlformats.org/drawingml/2006/main"/>
        </p:blipFill>
        <p:spPr>
          <a:xfrm xmlns:a="http://schemas.openxmlformats.org/drawingml/2006/main">
            <a:off x="6502400" y="4035425"/>
            <a:ext cx="5283200" cy="3302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90A1C-4325-4AB7-B0D3-577320F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4200" y="3638550"/>
            <a:ext cx="5283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c562265394409"/>
          <a:stretch xmlns:a="http://schemas.openxmlformats.org/drawingml/2006/main"/>
        </p:blipFill>
        <p:spPr>
          <a:xfrm xmlns:a="http://schemas.openxmlformats.org/drawingml/2006/main">
            <a:off x="12014200" y="4035425"/>
            <a:ext cx="5283200" cy="3302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7FA34-6371-473D-ADF5-9472ADB9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91600"/>
            <a:ext cx="8134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9C9C9"/>
                </a:solidFill>
              </a:defRPr>
            </a:pPr>
            <a:r>
              <a:rPr sz="1725" b="0" i="0">
                <a:solidFill>
                  <a:srgbClr val="C9C9C9"/>
                </a:solidFill>
              </a:rPr>
              <a:t>Palette: black / white / ROCKWEAR red, with blue retained for legacy action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25F45-E332-44B9-89EA-047BB24F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89154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7B112-9CBD-4EE2-AAB5-B29FEAA5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9154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42"/>
          </a:solidFill>
          <a:ln xmlns:a="http://schemas.openxmlformats.org/drawingml/2006/main" w="0">
            <a:solidFill>
              <a:srgbClr val="FF3F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C553B-AD43-4CB9-8F45-6176EF2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89154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F1DEC-76C7-4934-A4CC-5551C7A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89154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CD8"/>
          </a:solidFill>
          <a:ln xmlns:a="http://schemas.openxmlformats.org/drawingml/2006/main" w="0">
            <a:solidFill>
              <a:srgbClr val="177C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50534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21B837-D1BC-4902-AA22-42C29671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E211-7DB8-4531-A68C-B5039E01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LIVE DEMO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8FBD4-BECD-4DD7-8E8B-FA28F42A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A short story the audience can follow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92448-7A1D-44B6-BFA0-58CF6DD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458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For a 5-minute class presentation, demo the project as one connected operational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D7AAA-43D9-47D8-B26D-447D3884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55007-1BD4-4B19-8E4B-CB89829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0"/>
            <a:ext cx="744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1. Open storefront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83EC8-AA80-4F9F-971B-7DA0B4CF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744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Show the ROCKWEAR hero, product browsing, search/filter, and product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05D0-CBCC-4BF7-AB8E-7C71EF23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30395-23F9-4CE1-A9BF-8AB7DDAF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744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2. Act as 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E8070-61CE-4C1B-9E7B-08137FA1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57850"/>
            <a:ext cx="744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Log in, add to wishlist/cart, apply voucher, choose payment, and place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96B6D-D860-42CB-8EAB-6B96B144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15C83-A01A-40E9-A556-1BBFDFAF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38850"/>
            <a:ext cx="744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3. Switch to operation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166D4-F75E-4383-B32C-5CA5363D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7448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Show order management, stock, product/catalog control, campaign management, and statistics.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46BED-D87D-408E-884F-2CD2837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62800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3F42"/>
                </a:solidFill>
              </a:defRPr>
            </a:pPr>
            <a:r>
              <a:rPr sz="150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2BD82-7F6D-45D5-9F41-27B7AE0D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915150"/>
            <a:ext cx="744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4. Close with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F30F6-8A5A-4C3B-B8FB-041A703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219950"/>
            <a:ext cx="7448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9C9C9"/>
                </a:solidFill>
              </a:defRPr>
            </a:pPr>
            <a:r>
              <a:rPr sz="1500" b="0" i="0">
                <a:solidFill>
                  <a:srgbClr val="C9C9C9"/>
                </a:solidFill>
              </a:rPr>
              <a:t>Explain how React, REST APIs, services, repositories, and database tables support the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36549-AEF1-4A05-9217-036C1111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57600"/>
            <a:ext cx="7915275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4236D-2493-4D50-8F65-B7773079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86300"/>
            <a:ext cx="701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PRESENTATION PROMISE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DEF6F-350B-4007-9984-1E819A8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701040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Show the store.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Show the system.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Show the engineering.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64C9F-9B73-429A-8D8C-E3C1B6E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0"/>
            <a:ext cx="5543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9C9C9"/>
                </a:solidFill>
              </a:defRPr>
            </a:pPr>
            <a:r>
              <a:rPr sz="1875" b="0" i="0">
                <a:solidFill>
                  <a:srgbClr val="C9C9C9"/>
                </a:solidFill>
              </a:rPr>
              <a:t>That sequence makes the project understandable to both non-technical viewers and software evaluators.</a:t>
            </a:r>
          </a:p>
        </p:txBody>
      </p:sp>
    </p:spTree>
    <p:extLst>
      <p:ext uri="{BB962C8B-B14F-4D97-AF65-F5344CB8AC3E}">
        <p14:creationId xmlns:p14="http://schemas.microsoft.com/office/powerpoint/2010/main" val="11886019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169E1-5CB6-4CB7-A745-9815582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23B72-F16B-4B7E-BE5C-9C9CB826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OPTIONAL DIAGRAM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180D1-4925-4981-B43B-B3E64EBF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630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Paste a detailed diagram here if the lecturer 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C4989-6758-4608-A64A-A6148F92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077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9C9C9"/>
                </a:solidFill>
              </a:defRPr>
            </a:pPr>
            <a:r>
              <a:rPr sz="2100" b="0" i="0">
                <a:solidFill>
                  <a:srgbClr val="C9C9C9"/>
                </a:solidFill>
              </a:rPr>
              <a:t>The short deck already contains a simplified architecture diagram. Use this slide only when you want to show an official SDS/RDS diagram.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99626-8C56-4491-96AD-4A4352B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7991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9050">
            <a:solidFill>
              <a:srgbClr val="8A0E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D9F4D-B3F4-4040-A6D5-BC797AC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53050"/>
            <a:ext cx="716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Use Case or ERD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54B1C-315C-46A7-A79A-24936F74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24550"/>
            <a:ext cx="6057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9C9C9"/>
                </a:solidFill>
              </a:defRPr>
            </a:pPr>
            <a:r>
              <a:rPr sz="1800" b="0" i="0">
                <a:solidFill>
                  <a:srgbClr val="C9C9C9"/>
                </a:solidFill>
              </a:rPr>
              <a:t>Suggested files: customer/admin/staff use-case diagram or database ERD from SDS/RDS.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E5F15-70DD-46C2-B941-C1B7E7A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62250"/>
            <a:ext cx="7991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9050">
            <a:solidFill>
              <a:srgbClr val="8A0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6EE2E-8200-4C16-8656-D23D8A86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38750"/>
            <a:ext cx="716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Sequence or Class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E00CE-FA0C-4E71-92E3-83BFDF0E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810250"/>
            <a:ext cx="5467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9C9C9"/>
                </a:solidFill>
              </a:defRPr>
            </a:pPr>
            <a:r>
              <a:rPr sz="1800" b="0" i="0">
                <a:solidFill>
                  <a:srgbClr val="C9C9C9"/>
                </a:solidFill>
              </a:rPr>
              <a:t>Suggested files: login sequence, order class diagram, product/catalog class diagram, or stock import class diagram.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41659-10FE-4765-BF60-780AF227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29640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8E8E8E"/>
                </a:solidFill>
              </a:defRPr>
            </a:pPr>
            <a:r>
              <a:rPr sz="1650" b="0" i="0">
                <a:solidFill>
                  <a:srgbClr val="8E8E8E"/>
                </a:solidFill>
              </a:rPr>
              <a:t>Keep this slide as backup; delete it if the final presentation must stay very concise.</a:t>
            </a:r>
          </a:p>
        </p:txBody>
      </p:sp>
    </p:spTree>
    <p:extLst>
      <p:ext uri="{BB962C8B-B14F-4D97-AF65-F5344CB8AC3E}">
        <p14:creationId xmlns:p14="http://schemas.microsoft.com/office/powerpoint/2010/main" val="764222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2026-04-26T17:07:20.4220000Z</dcterms:created>
  <dcterms:modified xsi:type="dcterms:W3CDTF">2026-04-26T17:07:20.4220000Z</dcterms:modified>
</coreProperties>
</file>