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e6e53da194d13" /><Relationship Type="http://schemas.openxmlformats.org/officeDocument/2006/relationships/extended-properties" Target="/docProps/app.xml" Id="Rb45e705dcb484f0b" /><Relationship Type="http://schemas.openxmlformats.org/officeDocument/2006/relationships/officeDocument" Target="/ppt/presentation.xml" Id="Rca9f9ec52531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f83f984d344b5d"/>
  </p:sldMasterIdLst>
  <p:notesMasterIdLst>
    <p:notesMasterId xmlns:r="http://schemas.openxmlformats.org/officeDocument/2006/relationships" r:id="Racf83a94b9c842dd"/>
  </p:notesMasterIdLst>
  <p:sldIdLst>
    <p:sldId xmlns:r="http://schemas.openxmlformats.org/officeDocument/2006/relationships" id="256" r:id="R6f6f0fb321324136"/>
    <p:sldId xmlns:r="http://schemas.openxmlformats.org/officeDocument/2006/relationships" id="257" r:id="Rfd6164d7d75c4cfc"/>
    <p:sldId xmlns:r="http://schemas.openxmlformats.org/officeDocument/2006/relationships" id="258" r:id="Rdce6f52eac9b4014"/>
    <p:sldId xmlns:r="http://schemas.openxmlformats.org/officeDocument/2006/relationships" id="259" r:id="Rce0ae238bd2e4529"/>
    <p:sldId xmlns:r="http://schemas.openxmlformats.org/officeDocument/2006/relationships" id="260" r:id="R6194ec65f4b24b41"/>
    <p:sldId xmlns:r="http://schemas.openxmlformats.org/officeDocument/2006/relationships" id="261" r:id="R531fb7ab61734da0"/>
    <p:sldId xmlns:r="http://schemas.openxmlformats.org/officeDocument/2006/relationships" id="262" r:id="R74a5d8ac6fd94247"/>
    <p:sldId xmlns:r="http://schemas.openxmlformats.org/officeDocument/2006/relationships" id="263" r:id="R9cd8b238b8df456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83f984d344b5d" /><Relationship Type="http://schemas.openxmlformats.org/officeDocument/2006/relationships/theme" Target="/ppt/theme/theme1.xml" Id="R87eeab21b9db4c3f" /><Relationship Type="http://schemas.openxmlformats.org/officeDocument/2006/relationships/notesMaster" Target="/ppt/notesMasters/notesMaster1.xml" Id="Racf83a94b9c842dd" /><Relationship Type="http://schemas.openxmlformats.org/officeDocument/2006/relationships/presProps" Target="/ppt/presProps.xml" Id="Rf25ab91396864378" /><Relationship Type="http://schemas.openxmlformats.org/officeDocument/2006/relationships/viewProps" Target="/ppt/viewProps.xml" Id="Red016d670dcb44fc" /><Relationship Type="http://schemas.openxmlformats.org/officeDocument/2006/relationships/tableStyles" Target="/ppt/tableStyles.xml" Id="R76b9c9fa6c6546ef" /><Relationship Type="http://schemas.openxmlformats.org/officeDocument/2006/relationships/slide" Target="/ppt/slides/slide1.xml" Id="R6f6f0fb321324136" /><Relationship Type="http://schemas.openxmlformats.org/officeDocument/2006/relationships/slide" Target="/ppt/slides/slide2.xml" Id="Rfd6164d7d75c4cfc" /><Relationship Type="http://schemas.openxmlformats.org/officeDocument/2006/relationships/slide" Target="/ppt/slides/slide3.xml" Id="Rdce6f52eac9b4014" /><Relationship Type="http://schemas.openxmlformats.org/officeDocument/2006/relationships/slide" Target="/ppt/slides/slide4.xml" Id="Rce0ae238bd2e4529" /><Relationship Type="http://schemas.openxmlformats.org/officeDocument/2006/relationships/slide" Target="/ppt/slides/slide5.xml" Id="R6194ec65f4b24b41" /><Relationship Type="http://schemas.openxmlformats.org/officeDocument/2006/relationships/slide" Target="/ppt/slides/slide6.xml" Id="R531fb7ab61734da0" /><Relationship Type="http://schemas.openxmlformats.org/officeDocument/2006/relationships/slide" Target="/ppt/slides/slide7.xml" Id="R74a5d8ac6fd94247" /><Relationship Type="http://schemas.openxmlformats.org/officeDocument/2006/relationships/slide" Target="/ppt/slides/slide8.xml" Id="R9cd8b238b8df45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be4acb7c68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56e69328a4262" /><Relationship Type="http://schemas.openxmlformats.org/officeDocument/2006/relationships/notesMaster" Target="/ppt/notesMasters/notesMaster1.xml" Id="Rcf020ad39a804d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078ea2b28d432f" /><Relationship Type="http://schemas.openxmlformats.org/officeDocument/2006/relationships/notesMaster" Target="/ppt/notesMasters/notesMaster1.xml" Id="R86045ac4203948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baa4a7812340e6" /><Relationship Type="http://schemas.openxmlformats.org/officeDocument/2006/relationships/notesMaster" Target="/ppt/notesMasters/notesMaster1.xml" Id="R8e3bd5db6bb043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cd7d7e1114f88" /><Relationship Type="http://schemas.openxmlformats.org/officeDocument/2006/relationships/notesMaster" Target="/ppt/notesMasters/notesMaster1.xml" Id="R177149179e0940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88ed8338d94734" /><Relationship Type="http://schemas.openxmlformats.org/officeDocument/2006/relationships/notesMaster" Target="/ppt/notesMasters/notesMaster1.xml" Id="R85b4e66e6c7d46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c4d1b18c444f50" /><Relationship Type="http://schemas.openxmlformats.org/officeDocument/2006/relationships/notesMaster" Target="/ppt/notesMasters/notesMaster1.xml" Id="R40336160dd41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fd763b98c6406f" /><Relationship Type="http://schemas.openxmlformats.org/officeDocument/2006/relationships/notesMaster" Target="/ppt/notesMasters/notesMaster1.xml" Id="Ra20b5103207548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958ec6c7134ba2" /><Relationship Type="http://schemas.openxmlformats.org/officeDocument/2006/relationships/notesMaster" Target="/ppt/notesMasters/notesMaster1.xml" Id="Rb8a55973334e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f09aa426646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8a36df53d40491d" /><Relationship Type="http://schemas.openxmlformats.org/officeDocument/2006/relationships/slideLayout" Target="/ppt/slideLayouts/slideLayout2.xml" Id="Rda3859b53907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859b53907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f54955c28f4b1b" /><Relationship Type="http://schemas.openxmlformats.org/officeDocument/2006/relationships/image" Target="/ppt/media/image.png" Id="R4f9603c4190b4ee2" /><Relationship Type="http://schemas.openxmlformats.org/officeDocument/2006/relationships/image" Target="/ppt/media/image2.png" Id="R4b46c72169ba46fe" /><Relationship Type="http://schemas.openxmlformats.org/officeDocument/2006/relationships/notesSlide" Target="/ppt/notesSlides/notesSlide1.xml" Id="R9a342464cd0a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9a22d7143343bd" /><Relationship Type="http://schemas.openxmlformats.org/officeDocument/2006/relationships/notesSlide" Target="/ppt/notesSlides/notesSlide2.xml" Id="R17a0e6bf9ef548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c76eac31e473f" /><Relationship Type="http://schemas.openxmlformats.org/officeDocument/2006/relationships/notesSlide" Target="/ppt/notesSlides/notesSlide3.xml" Id="Reed9cd3d2ebd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86d9f3ac8b4ccf" /><Relationship Type="http://schemas.openxmlformats.org/officeDocument/2006/relationships/image" Target="/ppt/media/image3.png" Id="R47665fe2f4b54bbd" /><Relationship Type="http://schemas.openxmlformats.org/officeDocument/2006/relationships/image" Target="/ppt/media/image4.png" Id="R1b96b1068c9b440b" /><Relationship Type="http://schemas.openxmlformats.org/officeDocument/2006/relationships/notesSlide" Target="/ppt/notesSlides/notesSlide4.xml" Id="Rfe49d4b4cdf446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847f4e759f4743" /><Relationship Type="http://schemas.openxmlformats.org/officeDocument/2006/relationships/notesSlide" Target="/ppt/notesSlides/notesSlide5.xml" Id="R1fe30e00efa149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731f03405c43df" /><Relationship Type="http://schemas.openxmlformats.org/officeDocument/2006/relationships/notesSlide" Target="/ppt/notesSlides/notesSlide6.xml" Id="R2eae77ba671447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df4ffb6d644430" /><Relationship Type="http://schemas.openxmlformats.org/officeDocument/2006/relationships/notesSlide" Target="/ppt/notesSlides/notesSlide7.xml" Id="Rc59462a68e3e4b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9e101e865e485e" /><Relationship Type="http://schemas.openxmlformats.org/officeDocument/2006/relationships/image" Target="/ppt/media/image5.png" Id="R2493a6b1e89e4d1d" /><Relationship Type="http://schemas.openxmlformats.org/officeDocument/2006/relationships/image" Target="/ppt/media/image6.png" Id="R5dcc3fee13bc495b" /><Relationship Type="http://schemas.openxmlformats.org/officeDocument/2006/relationships/notesSlide" Target="/ppt/notesSlides/notesSlide8.xml" Id="R62feb86d522b4e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C7748-4E44-467D-9581-4D0C6F33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603c4190b4ee2"/>
          <a:stretch xmlns:a="http://schemas.openxmlformats.org/drawingml/2006/main"/>
        </p:blipFill>
        <p:spPr>
          <a:xfrm xmlns:a="http://schemas.openxmlformats.org/drawingml/2006/main">
            <a:off x="1336866" y="723900"/>
            <a:ext cx="1307718" cy="104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AC8B9-C6C2-416E-9A0A-4C4B44B6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7353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SWP391 PROJECT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3875B-006D-48F3-B0F8-632A16B8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73533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150" b="1" i="0">
                <a:solidFill>
                  <a:srgbClr val="FFFFFF"/>
                </a:solidFill>
              </a:defRPr>
            </a:pPr>
            <a:r>
              <a:rPr sz="9150" b="1" i="0">
                <a:solidFill>
                  <a:srgbClr val="FFFFFF"/>
                </a:solidFill>
              </a:rPr>
              <a:t>ROCKWEAR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9840C-91AE-4252-A6FF-52DF5FA6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735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3F42"/>
                </a:solidFill>
              </a:defRPr>
            </a:pPr>
            <a:r>
              <a:rPr sz="4050" b="1" i="0">
                <a:solidFill>
                  <a:srgbClr val="FF3F42"/>
                </a:solidFill>
              </a:rPr>
              <a:t>Clothing Shop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C46A0-2E3C-4AB0-B36E-FF33362C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67437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CFCFCF"/>
                </a:solidFill>
              </a:defRPr>
            </a:pPr>
            <a:r>
              <a:rPr sz="2175" b="0" i="0">
                <a:solidFill>
                  <a:srgbClr val="CFCFCF"/>
                </a:solidFill>
              </a:rPr>
              <a:t>A streetwear e-commerce platform for shopping, order processing, stock control, and promotion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B79D2-5905-4735-930E-0BC46726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05750"/>
            <a:ext cx="73533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735BB-091A-432F-8CB4-11171EC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96250"/>
            <a:ext cx="689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3F42"/>
                </a:solidFill>
              </a:defRPr>
            </a:pPr>
            <a:r>
              <a:rPr sz="1125" b="1" i="0">
                <a:solidFill>
                  <a:srgbClr val="FF3F42"/>
                </a:solidFill>
              </a:rPr>
              <a:t>PRESENTED 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7FF64-6A4C-4D74-B4F2-AC784C7F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62950"/>
            <a:ext cx="6896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Nguyễn Gia Bảo (Leader)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Nguyễn Phúc An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Phạm Trí Trọng Ân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Nguyễn Phúc 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7288-E2A9-4316-A037-FED3CAB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201150"/>
            <a:ext cx="689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Lecturer: Quách Luyl Đa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6c72169ba46fe"/>
          <a:srcRect xmlns:a="http://schemas.openxmlformats.org/drawingml/2006/main" l="20625" t="0" r="20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0"/>
            <a:ext cx="8953500" cy="10287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C496C-3846-4F21-9BF2-F58CDDCF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D7192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8676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338CE9-96DE-4C35-8FB8-8C7CA1DB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D23DB-8506-453F-B9EF-BFCDC9C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PROJECT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C1B45-65FA-43B8-859B-85DD108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85850"/>
            <a:ext cx="1630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What we built, and how to present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65367-3B21-41B0-8F87-824F705C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8610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CFCF"/>
                </a:solidFill>
              </a:defRPr>
            </a:pPr>
            <a:r>
              <a:rPr sz="2025" b="0" i="0">
                <a:solidFill>
                  <a:srgbClr val="CFCFCF"/>
                </a:solidFill>
              </a:rPr>
              <a:t>Use this slide to introduce the project clearly before jumping into diagrams.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E6CAB-3AA4-49CF-9B11-A867BE01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F26DB-FC02-4BFF-88E1-E39FD7E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811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FA727-17C7-4EDC-BE4D-08CA7CD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811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Streetwear shopping needs a fast storefront, reliable stock visibility, and clear order tracking.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0D672-F6FA-463D-BD28-45368ABC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7F558-57E1-45F2-A414-9937B0DC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72150"/>
            <a:ext cx="811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8CEFD-117D-47A0-9313-B95F8377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57900"/>
            <a:ext cx="811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ROCKWEAR connects customer shopping flows with staff/admin operational workflows.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990C7-AA29-4D47-8048-36CACE9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151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2D691-3C13-4C06-96EF-5990D528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515100"/>
            <a:ext cx="811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91AD4-5351-4E50-9F78-125EC3C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819900"/>
            <a:ext cx="811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Storefront, authentication, cart, checkout, orders, vouchers, promotions, stock, reviews, notifications, and statistics.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738FD-9464-4C6E-A0D5-768FFB99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636" y="2686050"/>
            <a:ext cx="7255764" cy="6838950"/>
          </a:xfrm>
          <a:prstGeom xmlns:a="http://schemas.openxmlformats.org/drawingml/2006/main" prst="roundRect">
            <a:avLst>
              <a:gd name="adj" fmla="val 1114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5775C-84E2-4FA4-83A0-812C516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6610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TEAM TALKING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4553B-7EF9-4F07-B91D-3874C4A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85C7E-7D3F-4AD4-9853-B554A17D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5280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Nguyễn Gia Bảo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D178B-5F50-4670-94B6-22169273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57600"/>
            <a:ext cx="621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Leader · project overview and closing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40CE8-1878-49E1-B300-280A91A9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386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A58B0-44B3-481C-AE44-B1AA0B9F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3860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Nguyễn Phúc 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3B38C-3F18-4089-AD4D-53ECF35F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43400"/>
            <a:ext cx="621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Customer flow and UI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B17DA-9779-463A-8CD7-5526697A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244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DFCD3-9986-43AD-93DD-545AE35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2440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Phạm Trí Trọng Ân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26F9D-3514-4DF7-B9AE-606FF13E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029200"/>
            <a:ext cx="621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Architecture, data model, and backend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8F44E-B61D-4B95-99C1-BA0069A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102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FDE21-6CCF-41F2-A0E9-C472FE2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41020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Nguyễn Phúc 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A20E3-FEFF-4140-90CD-A675E9C7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621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Dashboard operations and QA points</a:t>
            </a:r>
          </a:p>
        </p:txBody>
      </p:sp>
    </p:spTree>
    <p:extLst>
      <p:ext uri="{BB962C8B-B14F-4D97-AF65-F5344CB8AC3E}">
        <p14:creationId xmlns:p14="http://schemas.microsoft.com/office/powerpoint/2010/main" val="20316497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1E6C8-F8B5-4515-BE54-C21614F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39EC5-476B-4DC1-BA9E-31A7B2B7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DIAGRAM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CA419-AA45-4B89-84A0-76C66511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85850"/>
            <a:ext cx="1630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System actors and use-case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6275A-BA9C-4214-A7C0-A85931A5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10306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CFCF"/>
                </a:solidFill>
              </a:defRPr>
            </a:pPr>
            <a:r>
              <a:rPr sz="2025" b="0" i="0">
                <a:solidFill>
                  <a:srgbClr val="CFCFCF"/>
                </a:solidFill>
              </a:rPr>
              <a:t>Place the main use-case diagram here so the audience understands the system boundary before seeing implementation details.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FDBE5-CAB1-4C1B-B911-273E964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975658" cy="6838950"/>
          </a:xfrm>
          <a:prstGeom xmlns:a="http://schemas.openxmlformats.org/drawingml/2006/main" prst="roundRect">
            <a:avLst>
              <a:gd name="adj" fmla="val 1114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66BA8-06A0-4655-8F4F-9444EB45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76850"/>
            <a:ext cx="10172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Paste Use-Case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92B78-4C74-48B3-B536-92E1F4C1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695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FCFCF"/>
                </a:solidFill>
              </a:defRPr>
            </a:pPr>
            <a:r>
              <a:rPr sz="1800" b="0" i="0">
                <a:solidFill>
                  <a:srgbClr val="CFCFCF"/>
                </a:solidFill>
              </a:rPr>
              <a:t>Recommended: Guest / Customer / Staff / Admin use-case diagram from 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4AF6E-0ABD-4520-B125-68B4242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5151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42"/>
          </a:solidFill>
          <a:ln xmlns:a="http://schemas.openxmlformats.org/drawingml/2006/main" w="0">
            <a:solidFill>
              <a:srgbClr val="FF3F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E1AA2-9B65-4228-B215-3568C3AE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24650"/>
            <a:ext cx="1017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8F8F8F"/>
                </a:solidFill>
              </a:defRPr>
            </a:pPr>
            <a:r>
              <a:rPr sz="1575" b="0" i="0">
                <a:solidFill>
                  <a:srgbClr val="8F8F8F"/>
                </a:solidFill>
              </a:rPr>
              <a:t>Drop the diagram image here before presenting.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C2E83-CE65-4AAD-9CA4-67AD489B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6308" y="2686050"/>
            <a:ext cx="4931093" cy="6838950"/>
          </a:xfrm>
          <a:prstGeom xmlns:a="http://schemas.openxmlformats.org/drawingml/2006/main" prst="roundRect">
            <a:avLst>
              <a:gd name="adj" fmla="val 1545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5CB64-3001-4DCA-B50D-5E5B13DB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305300"/>
            <a:ext cx="4324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WHAT TO SAY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86652-70C7-40B9-9863-62FD403B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7053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BC558-8530-402F-A5DF-A2E0525A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70535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92098-B80B-4095-865F-B2F20859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010150"/>
            <a:ext cx="3924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Can browse, search, register, and login.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0B8CA-9F30-4F98-96D6-000A0D0D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4292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0CE72-CAC1-4CEA-A5F6-F6CB0318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42925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F25F7-56B0-463C-8F88-697139C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734050"/>
            <a:ext cx="3924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Can wishlist, cart, checkout, review, and track orders.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3F757-AF94-4804-A00C-3D4DC401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3436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90AD7-C59A-41A3-852D-D8F53557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34365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Staff/Admin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FFA92-946D-42D2-80B7-8193690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629400"/>
            <a:ext cx="3924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Manage products, orders, stock, campaigns, accounts, and statistics.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5FCBD-FC0F-4203-AF76-B677035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390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6B6F5-7896-4FDC-ABF8-DADE4870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23900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RBAC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61657-A48A-48C0-9561-D4AF91BB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543800"/>
            <a:ext cx="3924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Each role only reaches its authorized screens and APIs.</a:t>
            </a:r>
          </a:p>
        </p:txBody>
      </p:sp>
    </p:spTree>
    <p:extLst>
      <p:ext uri="{BB962C8B-B14F-4D97-AF65-F5344CB8AC3E}">
        <p14:creationId xmlns:p14="http://schemas.microsoft.com/office/powerpoint/2010/main" val="19541279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72CEE-2CA6-4ADB-BBC0-00D44567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59743-4BC2-4E18-996B-E6C2425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CUSTOMER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9721B-672A-453A-B4E3-CB6D55C6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85850"/>
            <a:ext cx="1630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A simple path from discovery to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74DCE-167A-4443-B7DD-5FC94655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9886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CFCF"/>
                </a:solidFill>
              </a:defRPr>
            </a:pPr>
            <a:r>
              <a:rPr sz="2025" b="0" i="0">
                <a:solidFill>
                  <a:srgbClr val="CFCFCF"/>
                </a:solidFill>
              </a:rPr>
              <a:t>The customer side is designed as a familiar e-commerce journey, but backed by stock checks, vouchers, and order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286F6-1ACB-45FB-B869-83698C97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6FC7B-256F-49FA-AC1A-B7B6508A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531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Browse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FE128-5A47-4AE0-8957-FEB17BDC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5314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Shop, search, and inspect product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66D52-9DF4-46F2-BC35-47B558B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0FCA3-216B-40DB-8BE0-EFB466B4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05450"/>
            <a:ext cx="531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Choose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277C2-6C93-4E83-A9FD-E684E47B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10250"/>
            <a:ext cx="5314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Pick variation, quantity, cart, or wishlist.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54753-1225-4C82-A560-9D85DF5A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293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DF1C1-32D8-45AE-B018-B020A94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29350"/>
            <a:ext cx="531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B3479-3AC3-430D-BAAA-CCE1CE86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515100"/>
            <a:ext cx="5314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Apply voucher and choose payment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04DE6-6617-4CE3-A666-7297C867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342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30120-B522-4950-B703-DBBC8F7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934200"/>
            <a:ext cx="531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98E55-F149-44E4-9FEC-7C011FB7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239000"/>
            <a:ext cx="5314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Follow order status and review after purchase.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0BFBD-F17A-43C9-ADD9-4ACA4741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686050"/>
            <a:ext cx="4973193" cy="6838950"/>
          </a:xfrm>
          <a:prstGeom xmlns:a="http://schemas.openxmlformats.org/drawingml/2006/main" prst="roundRect">
            <a:avLst>
              <a:gd name="adj" fmla="val 1532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65fe2f4b54bbd"/>
          <a:stretch xmlns:a="http://schemas.openxmlformats.org/drawingml/2006/main"/>
        </p:blipFill>
        <p:spPr>
          <a:xfrm xmlns:a="http://schemas.openxmlformats.org/drawingml/2006/main">
            <a:off x="7141464" y="4551402"/>
            <a:ext cx="4973193" cy="3108246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3D2FD-0532-4A97-89A5-58CC915F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4207" y="2686050"/>
            <a:ext cx="4973193" cy="6838950"/>
          </a:xfrm>
          <a:prstGeom xmlns:a="http://schemas.openxmlformats.org/drawingml/2006/main" prst="roundRect">
            <a:avLst>
              <a:gd name="adj" fmla="val 1532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6b1068c9b440b"/>
          <a:stretch xmlns:a="http://schemas.openxmlformats.org/drawingml/2006/main"/>
        </p:blipFill>
        <p:spPr>
          <a:xfrm xmlns:a="http://schemas.openxmlformats.org/drawingml/2006/main">
            <a:off x="12324207" y="4551402"/>
            <a:ext cx="4973193" cy="31082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480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4591E-DDA2-45D3-ABD4-6D841C7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AC7A0-87D3-43B1-B76C-CA0E47B0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DIAGRAM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7AD6F-08F2-4CA3-8A5F-370E2052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85850"/>
            <a:ext cx="1630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Architecture, ERD, or class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9E206-2CD8-4EAD-A1D3-6E8D0021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857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CFCF"/>
                </a:solidFill>
              </a:defRPr>
            </a:pPr>
            <a:r>
              <a:rPr sz="2025" b="0" i="0">
                <a:solidFill>
                  <a:srgbClr val="CFCFCF"/>
                </a:solidFill>
              </a:rPr>
              <a:t>Use this slot for the technical diagram that best supports your demo route.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87A82-9B94-49F5-A4A1-BF0514D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737056" cy="6838950"/>
          </a:xfrm>
          <a:prstGeom xmlns:a="http://schemas.openxmlformats.org/drawingml/2006/main" prst="roundRect">
            <a:avLst>
              <a:gd name="adj" fmla="val 1114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B157-809B-4AE5-91DD-A99C40A7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76850"/>
            <a:ext cx="994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Paste Technical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5B283-294F-4D7D-977A-14436C8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6934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FCFCF"/>
                </a:solidFill>
              </a:defRPr>
            </a:pPr>
            <a:r>
              <a:rPr sz="1800" b="0" i="0">
                <a:solidFill>
                  <a:srgbClr val="CFCFCF"/>
                </a:solidFill>
              </a:rPr>
              <a:t>Recommended: ERD, login sequence, order class diagram, or stock import class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42015-3632-45F8-8CE2-6429B8E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5151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42"/>
          </a:solidFill>
          <a:ln xmlns:a="http://schemas.openxmlformats.org/drawingml/2006/main" w="0">
            <a:solidFill>
              <a:srgbClr val="FF3F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D7A47-5025-4FD7-B3EF-F03A5CDB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24650"/>
            <a:ext cx="994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8F8F8F"/>
                </a:solidFill>
              </a:defRPr>
            </a:pPr>
            <a:r>
              <a:rPr sz="1575" b="0" i="0">
                <a:solidFill>
                  <a:srgbClr val="8F8F8F"/>
                </a:solidFill>
              </a:rPr>
              <a:t>Drop the diagram image here before presenting.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48DC3-C285-479F-9142-9BFFD579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706" y="2686050"/>
            <a:ext cx="5169694" cy="6838950"/>
          </a:xfrm>
          <a:prstGeom xmlns:a="http://schemas.openxmlformats.org/drawingml/2006/main" prst="roundRect">
            <a:avLst>
              <a:gd name="adj" fmla="val 147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3E86A-9B09-4109-8459-44C0EFBA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572000"/>
            <a:ext cx="4552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BEST PICKS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DC7F1-62CD-440B-A2F6-22CFA9D5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9530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E3731-0BA7-426F-8700-09C3D676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953000"/>
            <a:ext cx="415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ERD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88556-78BB-4E68-BCDC-C85A854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257800"/>
            <a:ext cx="415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Use if you want to prove database completeness.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57DE0-B046-4881-B5A7-D414A44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6578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7BD09-5DCD-4A30-AB92-7E26298E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657850"/>
            <a:ext cx="415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0104A-ED2C-486B-B738-9B4FF745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962650"/>
            <a:ext cx="415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Use if you want to explain request 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E440E-3FF3-498D-918B-5C49FB4F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3627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3F42"/>
                </a:solidFill>
              </a:defRPr>
            </a:pPr>
            <a:r>
              <a:rPr sz="1350" b="0" i="0">
                <a:solidFill>
                  <a:srgbClr val="FF3F42"/>
                </a:solidFill>
              </a:rPr>
              <a:t>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78974-8766-489B-B849-3893C8C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362700"/>
            <a:ext cx="415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Class diagram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9D110-18B6-4340-B251-EF1E6B63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667500"/>
            <a:ext cx="4152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CFCF"/>
                </a:solidFill>
              </a:defRPr>
            </a:pPr>
            <a:r>
              <a:rPr sz="1425" b="0" i="0">
                <a:solidFill>
                  <a:srgbClr val="CFCFCF"/>
                </a:solidFill>
              </a:rPr>
              <a:t>Use if you want to connect controllers, services, and repositories.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497DC-CF23-47BC-851D-6A9255CF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258050"/>
            <a:ext cx="4552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8F8F8F"/>
                </a:solidFill>
              </a:defRPr>
            </a:pPr>
            <a:r>
              <a:rPr sz="1500" b="0" i="0">
                <a:solidFill>
                  <a:srgbClr val="8F8F8F"/>
                </a:solidFill>
              </a:rPr>
              <a:t>Delete one diagram slide if the presentation needs to be even shorter.</a:t>
            </a:r>
          </a:p>
        </p:txBody>
      </p:sp>
    </p:spTree>
    <p:extLst>
      <p:ext uri="{BB962C8B-B14F-4D97-AF65-F5344CB8AC3E}">
        <p14:creationId xmlns:p14="http://schemas.microsoft.com/office/powerpoint/2010/main" val="3035602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03420-3FB4-4956-B8BD-48415941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3816-6779-4B1B-8054-D2164DBF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9D5B7-DEB1-460D-88CA-329CD7E6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85850"/>
            <a:ext cx="163068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React UI → REST API → Services → Repositories →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C5BB6-D51D-4753-8AAC-3B0CDF01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10458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CFCF"/>
                </a:solidFill>
              </a:defRPr>
            </a:pPr>
            <a:r>
              <a:rPr sz="2025" b="0" i="0">
                <a:solidFill>
                  <a:srgbClr val="CFCFCF"/>
                </a:solidFill>
              </a:rPr>
              <a:t>The implementation follows a layered structure so business rules stay separate from UI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E03C7-FDF9-40BC-A14E-B91F311D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3433763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44718-DFB0-4C73-9786-7D782A9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31B48-AA71-4167-8D1A-F5D65848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72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React WebPages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CEA28-0A13-47BB-BDF1-FF1BDF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102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Routes, forms, shop UI, dashboard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C1D56-E9E7-44FF-B84B-11905F3F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FF3F42"/>
                </a:solidFill>
              </a:defRPr>
            </a:pPr>
            <a:r>
              <a:rPr sz="315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00CEB-0F0D-4F89-A932-13694EFC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613" y="4438650"/>
            <a:ext cx="3433763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4365C-3657-43C6-84EA-BC7B7018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863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8F2D7-FA13-4BDF-B427-9F6063EC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72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REST Controllers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06385-34E2-42DD-8ECE-7DF64C3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102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Request handling and authorization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367A1-A758-4F24-B2FB-379FBFAE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FF3F42"/>
                </a:solidFill>
              </a:defRPr>
            </a:pPr>
            <a:r>
              <a:rPr sz="315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21691-BF68-4978-BA9C-B7C88E1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38650"/>
            <a:ext cx="3433763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39184-E42D-4B92-8942-5814F5DD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863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08B8D-18C6-4D48-A770-2EDCB56F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72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Services + DTOs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05499-D2D1-4C40-9DA7-C40E0ECC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4102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Business rules and workflow orchestration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4D41B-84DC-4050-A441-8F8DA4B4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4673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FF3F42"/>
                </a:solidFill>
              </a:defRPr>
            </a:pPr>
            <a:r>
              <a:rPr sz="3150" b="0" i="0">
                <a:solidFill>
                  <a:srgbClr val="FF3F42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14515-75EC-49FF-8AC5-0E12E6C5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638" y="4438650"/>
            <a:ext cx="3433763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92D3A-C256-4B0B-AF1E-8E5936FE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6863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47040-0BCB-4B66-A7B6-E322303A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972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Repositories + 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5C97C-44AD-4A1A-81F9-9AD4C8A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4102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CFCF"/>
                </a:solidFill>
              </a:defRPr>
            </a:pPr>
            <a:r>
              <a:rPr sz="1500" b="0" i="0">
                <a:solidFill>
                  <a:srgbClr val="CFCFCF"/>
                </a:solidFill>
              </a:rPr>
              <a:t>Persistent product, order, stock, user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5C755-08D6-4908-BA33-757F22A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7353300"/>
            <a:ext cx="2381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 i="0">
                <a:solidFill>
                  <a:srgbClr val="FF3F42"/>
                </a:solidFill>
              </a:defRPr>
            </a:pPr>
            <a:r>
              <a:rPr sz="6000" b="1" i="0">
                <a:solidFill>
                  <a:srgbClr val="FF3F42"/>
                </a:solidFill>
              </a:rPr>
              <a:t>36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63277-41FA-470D-B8E7-B9C8088D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81915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FCFCF"/>
                </a:solidFill>
              </a:defRPr>
            </a:pPr>
            <a:r>
              <a:rPr sz="1725" b="0" i="0">
                <a:solidFill>
                  <a:srgbClr val="CFCFCF"/>
                </a:solidFill>
              </a:rPr>
              <a:t>database tables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8BCF6-4CFA-453E-86DE-E1B2E164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353300"/>
            <a:ext cx="2381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 i="0">
                <a:solidFill>
                  <a:srgbClr val="FFFFFF"/>
                </a:solidFill>
              </a:defRPr>
            </a:pPr>
            <a:r>
              <a:rPr sz="6000" b="1" i="0">
                <a:solidFill>
                  <a:srgbClr val="FFFFFF"/>
                </a:solidFill>
              </a:rPr>
              <a:t>79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CDC99-6CF2-46E5-964A-B69FC97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1915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FCFCF"/>
                </a:solidFill>
              </a:defRPr>
            </a:pPr>
            <a:r>
              <a:rPr sz="1725" b="0" i="0">
                <a:solidFill>
                  <a:srgbClr val="CFCFCF"/>
                </a:solidFill>
              </a:rPr>
              <a:t>business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ECF7F-9B41-43C3-805B-3E437B0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353300"/>
            <a:ext cx="2381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 i="0">
                <a:solidFill>
                  <a:srgbClr val="FF3F42"/>
                </a:solidFill>
              </a:defRPr>
            </a:pPr>
            <a:r>
              <a:rPr sz="6000" b="1" i="0">
                <a:solidFill>
                  <a:srgbClr val="FF3F42"/>
                </a:solidFill>
              </a:rPr>
              <a:t>86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F9D79-6091-46A8-BD4C-38DE688C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81915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FCFCF"/>
                </a:solidFill>
              </a:defRPr>
            </a:pPr>
            <a:r>
              <a:rPr sz="1725" b="0" i="0">
                <a:solidFill>
                  <a:srgbClr val="CFCFCF"/>
                </a:solidFill>
              </a:rPr>
              <a:t>SDS code designs</a:t>
            </a:r>
          </a:p>
        </p:txBody>
      </p:sp>
    </p:spTree>
    <p:extLst>
      <p:ext uri="{BB962C8B-B14F-4D97-AF65-F5344CB8AC3E}">
        <p14:creationId xmlns:p14="http://schemas.microsoft.com/office/powerpoint/2010/main" val="7973565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E4DA1-5443-4151-8CAC-2CB86833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A9891-00F5-4678-946B-D7BC01F2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200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3F42"/>
                </a:solidFill>
              </a:defRPr>
            </a:pPr>
            <a:r>
              <a:rPr sz="1350" b="1" i="0">
                <a:solidFill>
                  <a:srgbClr val="FF3F42"/>
                </a:solidFill>
              </a:rPr>
              <a:t>WHAT MAKES IT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51ECE-74F1-4850-A8C3-794F3DC2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85850"/>
            <a:ext cx="1630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Customer value plus operational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EC44A-8FF0-40BC-A04E-162A5ED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10591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CFCF"/>
                </a:solidFill>
              </a:defRPr>
            </a:pPr>
            <a:r>
              <a:rPr sz="2025" b="0" i="0">
                <a:solidFill>
                  <a:srgbClr val="CFCFCF"/>
                </a:solidFill>
              </a:rPr>
              <a:t>The project can be presented as more than a CRUD website because each feature connects to a real store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691AB-6155-476A-AA9C-CACEF80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5257800" cy="47244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043BA-DA9C-48D0-BFA7-55CFE75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4686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SHOPPING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1DF1C-785E-4DC8-AE7B-F3C3BDC8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95650"/>
            <a:ext cx="4686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Browse, cart, checkout,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EB40C-8518-46F3-8E1D-5AAD800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468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FCFCF"/>
                </a:solidFill>
              </a:defRPr>
            </a:pPr>
            <a:r>
              <a:rPr sz="1650" b="0" i="0">
                <a:solidFill>
                  <a:srgbClr val="CFCFCF"/>
                </a:solidFill>
              </a:rPr>
              <a:t>A customer can move from discovery to purchase without leaving the product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EE463-6F52-4A0C-9BE4-11AED2E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5257800" cy="47244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DA819-F482-40A8-892E-870498C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686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77D82-37F5-4FAB-BC82-ECCA568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95650"/>
            <a:ext cx="4686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Orders, stock, suppliers, campaigns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2FFD9-D902-4358-9232-62C997F7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68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FCFCF"/>
                </a:solidFill>
              </a:defRPr>
            </a:pPr>
            <a:r>
              <a:rPr sz="1650" b="0" i="0">
                <a:solidFill>
                  <a:srgbClr val="CFCFCF"/>
                </a:solidFill>
              </a:rPr>
              <a:t>Staff and admins can keep catalog data, stock flow, and promotions synchronized.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994B6-B552-417A-ADF1-03387A3F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686050"/>
            <a:ext cx="5257800" cy="47244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71684-7CEE-4BCA-9348-C70670DD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933700"/>
            <a:ext cx="4686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6FEFD-C6F7-4F9A-A6C7-B077F76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295650"/>
            <a:ext cx="4686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Security, RBAC, validation, statistics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7D285-C53C-4A4F-8446-E55C8106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229100"/>
            <a:ext cx="4686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FCFCF"/>
                </a:solidFill>
              </a:defRPr>
            </a:pPr>
            <a:r>
              <a:rPr sz="1650" b="0" i="0">
                <a:solidFill>
                  <a:srgbClr val="CFCFCF"/>
                </a:solidFill>
              </a:rPr>
              <a:t>JWT, Google login, password safety, stock checks, voucher rules, and dashboard metrics support reliability.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F1CE0-7F1D-4ED8-8F19-38B53AEA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715250"/>
            <a:ext cx="16306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3335">
            <a:solidFill>
              <a:srgbClr val="8A0E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96735-8F6A-4158-AFBD-47301323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286750"/>
            <a:ext cx="781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3F42"/>
                </a:solidFill>
              </a:defRPr>
            </a:pPr>
            <a:r>
              <a:rPr sz="1200" b="1" i="0">
                <a:solidFill>
                  <a:srgbClr val="FF3F42"/>
                </a:solidFill>
              </a:rPr>
              <a:t>RDS / SDS PROOF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67B82-8277-4A54-9C91-F5409AAF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534400"/>
            <a:ext cx="6781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FCFCF"/>
                </a:solidFill>
              </a:defRPr>
            </a:pPr>
            <a:r>
              <a:rPr sz="1650" b="0" i="0">
                <a:solidFill>
                  <a:srgbClr val="CFCFCF"/>
                </a:solidFill>
              </a:rPr>
              <a:t>Use these numbers as the bridge from feature list to demo: the project is documented, designed, and implementation-ready.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57B7D-94ED-481C-97AE-4418DB06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2486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3F42"/>
                </a:solidFill>
              </a:defRPr>
            </a:pPr>
            <a:r>
              <a:rPr sz="4050" b="1" i="0">
                <a:solidFill>
                  <a:srgbClr val="FF3F42"/>
                </a:solidFill>
              </a:rPr>
              <a:t>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BB842-65D2-451A-85F7-EF1DB7B2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8201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FCFCF"/>
                </a:solidFill>
              </a:defRPr>
            </a:pPr>
            <a:r>
              <a:rPr sz="1350" b="0" i="0">
                <a:solidFill>
                  <a:srgbClr val="CFCFCF"/>
                </a:solidFill>
              </a:rPr>
              <a:t>use-case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5E1AF-4AFF-4B24-B1A1-335A2277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2486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70D00-EBB0-4271-A365-5196B94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8201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FCFCF"/>
                </a:solidFill>
              </a:defRPr>
            </a:pPr>
            <a:r>
              <a:rPr sz="1350" b="0" i="0">
                <a:solidFill>
                  <a:srgbClr val="CFCFCF"/>
                </a:solidFill>
              </a:rPr>
              <a:t>database tables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A9A78-DDAC-4CF5-9B48-F8585D4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82486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3F42"/>
                </a:solidFill>
              </a:defRPr>
            </a:pPr>
            <a:r>
              <a:rPr sz="4050" b="1" i="0">
                <a:solidFill>
                  <a:srgbClr val="FF3F42"/>
                </a:solidFill>
              </a:rPr>
              <a:t>79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70F25-BD5F-4396-B133-A596B8CE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88201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FCFCF"/>
                </a:solidFill>
              </a:defRPr>
            </a:pPr>
            <a:r>
              <a:rPr sz="1350" b="0" i="0">
                <a:solidFill>
                  <a:srgbClr val="CFCFCF"/>
                </a:solidFill>
              </a:rPr>
              <a:t>business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A4FB2-5C38-4928-8701-413E986D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82486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86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BA467-BAB2-4137-B6F1-474944D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88201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FCFCF"/>
                </a:solidFill>
              </a:defRPr>
            </a:pPr>
            <a:r>
              <a:rPr sz="1350" b="0" i="0">
                <a:solidFill>
                  <a:srgbClr val="CFCFCF"/>
                </a:solidFill>
              </a:rPr>
              <a:t>code designs</a:t>
            </a:r>
          </a:p>
        </p:txBody>
      </p:sp>
    </p:spTree>
    <p:extLst>
      <p:ext uri="{BB962C8B-B14F-4D97-AF65-F5344CB8AC3E}">
        <p14:creationId xmlns:p14="http://schemas.microsoft.com/office/powerpoint/2010/main" val="13085370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38D94-082A-4D73-9A0A-559266F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3a6b1e89e4d1d"/>
          <a:srcRect xmlns:a="http://schemas.openxmlformats.org/drawingml/2006/main" l="0" t="8333" r="0" b="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49C3A-6725-4C2B-A4FB-AB1E8D58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2000"/>
            </a:srgbClr>
          </a:solidFill>
          <a:ln xmlns:a="http://schemas.openxmlformats.org/drawingml/2006/main" w="0">
            <a:solidFill>
              <a:srgbClr val="000000">
                <a:alpha val="7200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c3fee13bc495b"/>
          <a:stretch xmlns:a="http://schemas.openxmlformats.org/drawingml/2006/main"/>
        </p:blipFill>
        <p:spPr>
          <a:xfrm xmlns:a="http://schemas.openxmlformats.org/drawingml/2006/main">
            <a:off x="1391438" y="781050"/>
            <a:ext cx="1046174" cy="838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1633D-6319-4D33-8D16-57AEE5E8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11049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3F42"/>
                </a:solidFill>
              </a:defRPr>
            </a:pPr>
            <a:r>
              <a:rPr sz="1500" b="1" i="0">
                <a:solidFill>
                  <a:srgbClr val="FF3F42"/>
                </a:solidFill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420AA-37AC-4534-BA2F-0C709E75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160782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 i="0">
                <a:solidFill>
                  <a:srgbClr val="FFFFFF"/>
                </a:solidFill>
              </a:defRPr>
            </a:pPr>
            <a:r>
              <a:rPr sz="8850" b="1" i="0">
                <a:solidFill>
                  <a:srgbClr val="FFFFFF"/>
                </a:solidFill>
              </a:rPr>
              <a:t>Let’s demo</a:t>
            </a:r>
          </a:p>
          <a:p xmlns:a="http://schemas.openxmlformats.org/drawingml/2006/main">
            <a:pPr>
              <a:defRPr sz="8850" b="1" i="0">
                <a:solidFill>
                  <a:srgbClr val="FFFFFF"/>
                </a:solidFill>
              </a:defRPr>
            </a:pPr>
            <a:r>
              <a:rPr sz="8850" b="1" i="0">
                <a:solidFill>
                  <a:srgbClr val="FFFFFF"/>
                </a:solidFill>
              </a:rPr>
              <a:t>ROCKWEAR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E183D-0473-44F2-BD38-D140DC73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91250"/>
            <a:ext cx="832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FCFCF"/>
                </a:solidFill>
              </a:defRPr>
            </a:pPr>
            <a:r>
              <a:rPr sz="2250" b="0" i="0">
                <a:solidFill>
                  <a:srgbClr val="CFCFCF"/>
                </a:solidFill>
              </a:rPr>
              <a:t>We will show the store, place the project in context, then connect the demo back to architecture and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317C4-1138-4042-80D5-CC2E7CBD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485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65F7C-312A-4A3A-9ADB-E881EB1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5805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1. Storefront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BEE2D-8A9A-4CAA-92D2-37C728C0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048500"/>
            <a:ext cx="257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4CAB4-C347-43A2-A793-2174F657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258050"/>
            <a:ext cx="2114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2. Customer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F8C52-7556-490A-A2C8-8F4018E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70485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0A25B-9CF8-414B-A65C-ECFE4F2E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25805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3. Dashboard</a:t>
            </a:r>
          </a:p>
        </p:txBody>
      </p:sp>
    </p:spTree>
    <p:extLst>
      <p:ext uri="{BB962C8B-B14F-4D97-AF65-F5344CB8AC3E}">
        <p14:creationId xmlns:p14="http://schemas.microsoft.com/office/powerpoint/2010/main" val="1047770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2026-04-26T17:29:25.7190000Z</dcterms:created>
  <dcterms:modified xsi:type="dcterms:W3CDTF">2026-04-26T17:29:25.7190000Z</dcterms:modified>
</coreProperties>
</file>